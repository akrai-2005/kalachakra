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2E4A7D"/>
            </a:solidFill>
          </c:spPr>
          <c:dPt>
            <c:idx val="2"/>
            <c:spPr>
              <a:solidFill>
                <a:srgbClr val="A3341F"/>
              </a:solidFill>
            </c:spPr>
          </c:dPt>
          <c:cat>
            <c:strRef>
              <c:f>Sheet1!$A$2:$A$4</c:f>
              <c:strCache>
                <c:ptCount val="3"/>
                <c:pt idx="0">
                  <c:v>Action-aware LSTM</c:v>
                </c:pt>
                <c:pt idx="1">
                  <c:v>Our world model</c:v>
                </c:pt>
                <c:pt idx="2">
                  <c:v>Trivial always-isolate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0.48</c:v>
                </c:pt>
                <c:pt idx="1">
                  <c:v>0.94</c:v>
                </c:pt>
                <c:pt idx="2">
                  <c:v>1.0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 b="1">
                  <a:solidFill>
                    <a:srgbClr val="1419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14191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github.com/AKRai-2005/kalachakr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t/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2148840"/>
            <a:ext cx="5486400" cy="4206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1918"/>
                </a:solidFill>
                <a:latin typeface="Calibri"/>
              </a:rPr>
              <a:t>Problem Statement ID  -  SIH26153</a:t>
            </a:r>
            <a:endParaRPr lang="en-US" dirty="0"/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141918"/>
                </a:solidFill>
                <a:latin typeface="Calibri"/>
              </a:rPr>
              <a:t>AI based Network Attack Forecasting from Network Traffic Data</a:t>
            </a:r>
          </a:p>
          <a:p>
            <a:pPr algn="l" lvl="1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5605D"/>
                </a:solidFill>
                <a:latin typeface="Calibri"/>
              </a:rPr>
              <a:t>Organisation  -  National Technical Research Organisation (NTRO)</a:t>
            </a:r>
          </a:p>
          <a:p>
            <a:pPr algn="l" lvl="1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5605D"/>
                </a:solidFill>
                <a:latin typeface="Calibri"/>
              </a:rPr>
              <a:t>Theme  -  Blockchain &amp; Cybersecurity</a:t>
            </a:r>
          </a:p>
          <a:p>
            <a:pPr algn="l" lvl="1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5605D"/>
                </a:solidFill>
                <a:latin typeface="Calibri"/>
              </a:rPr>
              <a:t>PS Category  -  Software</a:t>
            </a:r>
          </a:p>
          <a:p>
            <a:pPr algn="l" lvl="1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5605D"/>
                </a:solidFill>
                <a:latin typeface="Calibri"/>
              </a:rPr>
              <a:t>Team ID  -  [TEAM ID]</a:t>
            </a:r>
          </a:p>
          <a:p>
            <a:pPr algn="l" lvl="1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5605D"/>
                </a:solidFill>
                <a:latin typeface="Calibri"/>
              </a:rPr>
              <a:t>Team Name  -  AlgoRhythms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KALACHAKRA  -  a model you can ask “what if we act?”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12648" y="1170432"/>
            <a:ext cx="10972800" cy="566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300" b="0">
                <a:solidFill>
                  <a:srgbClr val="141918"/>
                </a:solidFill>
                <a:latin typeface="Calibri"/>
              </a:rPr>
              <a:t>A world model, not a classifier. It learns the transition dynamics P(Sₜ₊₁ | Sₜ, action) over a host-interaction graph and rolls them K steps forward - so it can score a future that has not happened yet, UNDER AN INTERVENTION.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/>
              <a:t>AlgoRhythms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612648" y="1810512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4A7D"/>
                </a:solidFill>
                <a:latin typeface="Calibri"/>
              </a:rPr>
              <a:t>WHY NO EXISTING CLASS OF TOOL CAN ANSWER THIS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12648" y="2103120"/>
            <a:ext cx="1806511" cy="310896"/>
          </a:xfrm>
          <a:prstGeom prst="roundRect">
            <a:avLst/>
          </a:prstGeom>
          <a:solidFill>
            <a:srgbClr val="2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2455735" y="2103120"/>
            <a:ext cx="1977961" cy="310896"/>
          </a:xfrm>
          <a:prstGeom prst="roundRect">
            <a:avLst/>
          </a:prstGeom>
          <a:solidFill>
            <a:srgbClr val="2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470273" y="2103120"/>
            <a:ext cx="2963799" cy="310896"/>
          </a:xfrm>
          <a:prstGeom prst="roundRect">
            <a:avLst/>
          </a:prstGeom>
          <a:solidFill>
            <a:srgbClr val="2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What it cannot do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12648" y="2459735"/>
            <a:ext cx="1806511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141918"/>
                </a:solidFill>
                <a:latin typeface="Calibri"/>
              </a:rPr>
              <a:t>Splunk / Exabeam
(SIEM, UEBA)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2455735" y="2459735"/>
            <a:ext cx="1977961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55605D"/>
                </a:solidFill>
                <a:latin typeface="Calibri"/>
              </a:rPr>
              <a:t>scores observed behaviour
against a baseline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470273" y="2459735"/>
            <a:ext cx="2963799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55605D"/>
                </a:solidFill>
                <a:latin typeface="Calibri"/>
              </a:rPr>
              <a:t>no forward simulation - it
reports, it does not forecast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612648" y="2962655"/>
            <a:ext cx="1806511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141918"/>
                </a:solidFill>
                <a:latin typeface="Calibri"/>
              </a:rPr>
              <a:t>LSTM / transformer
classifiers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2455735" y="2962655"/>
            <a:ext cx="1977961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55605D"/>
                </a:solidFill>
                <a:latin typeface="Calibri"/>
              </a:rPr>
              <a:t>scores the trajectory
that was observed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4470273" y="2962655"/>
            <a:ext cx="2963799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55605D"/>
                </a:solidFill>
                <a:latin typeface="Calibri"/>
              </a:rPr>
              <a:t>cannot condition on an action
that was never taken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612648" y="3465575"/>
            <a:ext cx="1806511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141918"/>
                </a:solidFill>
                <a:latin typeface="Calibri"/>
              </a:rPr>
              <a:t>BloodHound /
attack graphs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2455735" y="3465575"/>
            <a:ext cx="1977961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55605D"/>
                </a:solidFill>
                <a:latin typeface="Calibri"/>
              </a:rPr>
              <a:t>static reachability
over known topology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4470273" y="3465575"/>
            <a:ext cx="2963799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0">
                <a:solidFill>
                  <a:srgbClr val="55605D"/>
                </a:solidFill>
                <a:latin typeface="Calibri"/>
              </a:rPr>
              <a:t>no learned dynamics, no timing,
no effect of intervening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612648" y="3968495"/>
            <a:ext cx="1806511" cy="45720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1">
                <a:solidFill>
                  <a:srgbClr val="141918"/>
                </a:solidFill>
                <a:latin typeface="Calibri"/>
              </a:rPr>
              <a:t>KALACHAKRA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2455735" y="3968495"/>
            <a:ext cx="1977961" cy="45720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1">
                <a:solidFill>
                  <a:srgbClr val="141918"/>
                </a:solidFill>
                <a:latin typeface="Calibri"/>
              </a:rPr>
              <a:t>action-conditioned latent
rollout, K steps ahead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4470273" y="3968495"/>
            <a:ext cx="2963799" cy="45720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850" b="1">
                <a:solidFill>
                  <a:srgbClr val="141918"/>
                </a:solidFill>
                <a:latin typeface="Calibri"/>
              </a:rPr>
              <a:t>answers: what happens if we
ISOLATE THIS HOST NOW?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7726679" y="1810512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E4A7D"/>
                </a:solidFill>
                <a:latin typeface="Calibri"/>
              </a:rPr>
              <a:t>200 HELD-OUT MATCHED PAIRS  ·  “DOES ISOLATING HELP?”</a:t>
            </a:r>
          </a:p>
        </p:txBody>
      </p:sp>
      <p:graphicFrame>
        <p:nvGraphicFramePr>
          <p:cNvPr id="15380" name="Chart 15379"/>
          <p:cNvGraphicFramePr>
            <a:graphicFrameLocks noGrp="1"/>
          </p:cNvGraphicFramePr>
          <p:nvPr/>
        </p:nvGraphicFramePr>
        <p:xfrm>
          <a:off x="7452360" y="2066543"/>
          <a:ext cx="4343400" cy="1783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381" name="TextBox 15380"/>
          <p:cNvSpPr txBox="1"/>
          <p:nvPr/>
        </p:nvSpPr>
        <p:spPr>
          <a:xfrm>
            <a:off x="7726679" y="3877056"/>
            <a:ext cx="3931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A3341F"/>
                </a:solidFill>
                <a:latin typeface="Calibri"/>
              </a:rPr>
              <a:t>Red is the trivial baseline. It beats us, and we put it on the slide. 94% is not accuracy - see Feasibility.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612648" y="4553712"/>
            <a:ext cx="2651760" cy="1024128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TextBox 15382"/>
          <p:cNvSpPr txBox="1"/>
          <p:nvPr/>
        </p:nvSpPr>
        <p:spPr>
          <a:xfrm>
            <a:off x="612648" y="4608576"/>
            <a:ext cx="2651760" cy="102412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800" b="1">
                <a:solidFill>
                  <a:srgbClr val="2E4A7D"/>
                </a:solidFill>
                <a:latin typeface="Calibri"/>
              </a:rPr>
              <a:t>48% → 94%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55605D"/>
                </a:solidFill>
                <a:latin typeface="Calibri"/>
              </a:rPr>
              <a:t>action-aware LSTM vs world model</a:t>
            </a:r>
          </a:p>
          <a:p>
            <a:pPr algn="ctr"/>
            <a:r>
              <a:rPr sz="800" i="1">
                <a:solidFill>
                  <a:srgbClr val="B0BAB7"/>
                </a:solidFill>
                <a:latin typeface="Calibri"/>
              </a:rPr>
              <a:t>it never learns to intervene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3410712" y="4553712"/>
            <a:ext cx="2651760" cy="1024128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5" name="TextBox 15384"/>
          <p:cNvSpPr txBox="1"/>
          <p:nvPr/>
        </p:nvSpPr>
        <p:spPr>
          <a:xfrm>
            <a:off x="3410712" y="4608576"/>
            <a:ext cx="2651760" cy="102412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800" b="1">
                <a:solidFill>
                  <a:srgbClr val="2E4A7D"/>
                </a:solidFill>
                <a:latin typeface="Calibri"/>
              </a:rPr>
              <a:t>19.9M flows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55605D"/>
                </a:solidFill>
                <a:latin typeface="Calibri"/>
              </a:rPr>
              <a:t>13 real botnet captures</a:t>
            </a:r>
          </a:p>
          <a:p>
            <a:pPr algn="ctr"/>
            <a:r>
              <a:rPr sz="800" i="1">
                <a:solidFill>
                  <a:srgbClr val="B0BAB7"/>
                </a:solidFill>
                <a:latin typeface="Calibri"/>
              </a:rPr>
              <a:t>CTU-13, leave-one-scenario-out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6208776" y="4553712"/>
            <a:ext cx="2651760" cy="1024128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TextBox 15386"/>
          <p:cNvSpPr txBox="1"/>
          <p:nvPr/>
        </p:nvSpPr>
        <p:spPr>
          <a:xfrm>
            <a:off x="6208776" y="4608576"/>
            <a:ext cx="2651760" cy="102412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800" b="1">
                <a:solidFill>
                  <a:srgbClr val="2E4A7D"/>
                </a:solidFill>
                <a:latin typeface="Calibri"/>
              </a:rPr>
              <a:t>16 / 40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55605D"/>
                </a:solidFill>
                <a:latin typeface="Calibri"/>
              </a:rPr>
              <a:t>own predictions refuted</a:t>
            </a:r>
          </a:p>
          <a:p>
            <a:pPr algn="ctr"/>
            <a:r>
              <a:rPr sz="800" i="1">
                <a:solidFill>
                  <a:srgbClr val="B0BAB7"/>
                </a:solidFill>
                <a:latin typeface="Calibri"/>
              </a:rPr>
              <a:t>verdicts printed by the run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9006840" y="4553712"/>
            <a:ext cx="2651760" cy="1024128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9006840" y="4608576"/>
            <a:ext cx="2651760" cy="1024128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1800" b="1">
                <a:solidFill>
                  <a:srgbClr val="2E4A7D"/>
                </a:solidFill>
                <a:latin typeface="Calibri"/>
              </a:rPr>
              <a:t>&lt; 5e-3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55605D"/>
                </a:solidFill>
                <a:latin typeface="Calibri"/>
              </a:rPr>
              <a:t>attribution residual</a:t>
            </a:r>
          </a:p>
          <a:p>
            <a:pPr algn="ctr"/>
            <a:r>
              <a:rPr sz="800" i="1">
                <a:solidFill>
                  <a:srgbClr val="B0BAB7"/>
                </a:solidFill>
                <a:latin typeface="Calibri"/>
              </a:rPr>
              <a:t>completeness, checked in-browser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612648" y="568756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5D"/>
                </a:solidFill>
                <a:latin typeface="Calibri"/>
              </a:rPr>
              <a:t>Uniqueness: a counterfactual no discriminative model can answer - there is no bolt-on that gives a classifier one - validated on matched pairs, plus the discipline to test everything else on real botnet captures and publish the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88720"/>
            <a:ext cx="10972800" cy="502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b="0">
                <a:solidFill>
                  <a:srgbClr val="141918"/>
                </a:solidFill>
                <a:latin typeface="Calibri"/>
              </a:rPr>
              <a:t>Stack  -  PyTorch, XGBoost (baselines), NumPy, pytest. Shares its telemetry pipeline with our SIH26145 submission.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/>
              <a:t>AlgoRhythms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1828800"/>
            <a:ext cx="2029968" cy="86868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41918"/>
                </a:solidFill>
                <a:latin typeface="Calibri"/>
              </a:rPr>
              <a:t>Host graph
G_t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12648" y="2761488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605D"/>
                </a:solidFill>
                <a:latin typeface="Calibri"/>
              </a:rPr>
              <a:t>nodes = internal hosts
edges = observed flows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660904" y="2084831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0BAB7"/>
                </a:solidFill>
                <a:latin typeface="Calibri"/>
              </a:rPr>
              <a:t>&gt;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898648" y="1828800"/>
            <a:ext cx="2029968" cy="86868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41918"/>
                </a:solidFill>
                <a:latin typeface="Calibri"/>
              </a:rPr>
              <a:t>GNN
encoder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898648" y="2761488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605D"/>
                </a:solidFill>
                <a:latin typeface="Calibri"/>
              </a:rPr>
              <a:t>latent state z_t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946904" y="2084831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0BAB7"/>
                </a:solidFill>
                <a:latin typeface="Calibri"/>
              </a:rPr>
              <a:t>&gt;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184648" y="1828800"/>
            <a:ext cx="2029968" cy="868680"/>
          </a:xfrm>
          <a:prstGeom prst="roundRect">
            <a:avLst/>
          </a:prstGeom>
          <a:solidFill>
            <a:srgbClr val="2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Transition
model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184648" y="2761488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605D"/>
                </a:solidFill>
                <a:latin typeface="Calibri"/>
              </a:rPr>
              <a:t>z_t, action → ẑ_t+1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232904" y="2084831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0BAB7"/>
                </a:solidFill>
                <a:latin typeface="Calibri"/>
              </a:rPr>
              <a:t>&gt;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7470648" y="1828800"/>
            <a:ext cx="2029968" cy="868680"/>
          </a:xfrm>
          <a:prstGeom prst="roundRect">
            <a:avLst/>
          </a:prstGeom>
          <a:solidFill>
            <a:srgbClr val="2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K-step
rollout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470648" y="2761488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605D"/>
                </a:solidFill>
                <a:latin typeface="Calibri"/>
              </a:rPr>
              <a:t>no new observations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518904" y="2084831"/>
            <a:ext cx="256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0BAB7"/>
                </a:solidFill>
                <a:latin typeface="Calibri"/>
              </a:rPr>
              <a:t>&gt;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756648" y="1828800"/>
            <a:ext cx="2029968" cy="868680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41918"/>
                </a:solidFill>
                <a:latin typeface="Calibri"/>
              </a:rPr>
              <a:t>ATT&amp;CK
scoring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9756648" y="2761488"/>
            <a:ext cx="202996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55605D"/>
                </a:solidFill>
                <a:latin typeface="Calibri"/>
              </a:rPr>
              <a:t>P(reach compromise)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12648" y="33284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5D"/>
                </a:solidFill>
                <a:latin typeface="Calibri"/>
              </a:rPr>
              <a:t>Because the transition model takes an action, the same rollout answers both “where is this going?” and “what if we intervene?”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12648" y="370332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2E4A7D"/>
                </a:solidFill>
                <a:latin typeface="Calibri"/>
              </a:rPr>
              <a:t>Training objective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41918"/>
                </a:solidFill>
                <a:latin typeface="Calibri"/>
              </a:rPr>
              <a:t>JEPA-style: predict the next latent, not the next packet. Reconstructing raw traffic spends capacity on noise. Latent collapse is the known failure mode, so a VICReg variance/covariance term is included and the collapse diagnostic is reported - effective rank 27 to 44 of 64, not a number we hide.</a:t>
            </a:r>
          </a:p>
          <a:p>
            <a:pPr algn="l">
              <a:spcBef>
                <a:spcPts val="800"/>
              </a:spcBef>
              <a:spcAft>
                <a:spcPts val="700"/>
              </a:spcAft>
            </a:pPr>
            <a:r>
              <a:rPr sz="1400" b="1">
                <a:solidFill>
                  <a:srgbClr val="2E4A7D"/>
                </a:solidFill>
                <a:latin typeface="Calibri"/>
              </a:rPr>
              <a:t>Validation that is only possible because we generate the data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141918"/>
                </a:solidFill>
                <a:latin typeface="Calibri"/>
              </a:rPr>
              <a:t>800 matched pairs, each played twice from a bit-identical prefix, differing only in the intervention. You cannot observe the branch that did not happen in a real capture - so counterfactual ground truth has to be constructed, and we say 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234440"/>
            <a:ext cx="10972800" cy="1234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indent="-3429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450" b="1">
                <a:solidFill>
                  <a:srgbClr val="2E4A7D"/>
                </a:solidFill>
                <a:latin typeface="Calibri"/>
              </a:rPr>
              <a:t>Built and demonstrable, predictions written down before each run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41918"/>
                </a:solidFill>
                <a:latin typeface="Calibri"/>
              </a:rPr>
              <a:t>One command opens an intervention console: 40 held-out counterfactual pairs, each rolled forward twice from a shared prefix, the two risk curves drawn diverging. No server, no network - it opens from a file.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41918"/>
                </a:solidFill>
                <a:latin typeface="Calibri"/>
              </a:rPr>
              <a:t>Now tested on real data. CTU-13 — thirteen real botnet captures from CTU Prague, 19.9M flows — under leave-one-scenario-out, so every test episode is a network and a malware family the model never saw.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41918"/>
                </a:solidFill>
                <a:latin typeface="Calibri"/>
              </a:rPr>
              <a:t>33 of 82 pre-registered predictions were refuted by our own experiments, and the console shows the trivial baseline beside our own number.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/>
              <a:t>AlgoRhythms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2648" y="2606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4A7D"/>
                </a:solidFill>
                <a:latin typeface="Calibri"/>
              </a:rPr>
              <a:t>What we tested, and what it cost us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2962656"/>
            <a:ext cx="2148840" cy="822960"/>
          </a:xfrm>
          <a:prstGeom prst="roundRect">
            <a:avLst/>
          </a:prstGeom>
          <a:solidFill>
            <a:srgbClr val="A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Lead time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926080" y="2980944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A3341F"/>
                </a:solidFill>
                <a:latin typeface="Calibri"/>
              </a:rPr>
              <a:t>REFUTED — on generated data AND on real captures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2926080" y="3255264"/>
            <a:ext cx="85953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41918"/>
                </a:solidFill>
                <a:latin typeface="Calibri"/>
              </a:rPr>
              <a:t>A tuned LSTM beat us 3.35 to 0.26 windows on our generator. We then ran CTU-13 — 13 real botnet captures, 19.9M flows, leave-one-scenario-out — and the refutation replicates: the world model catches 5 of 12 real infections, gradient boosting 7 to 9. Sweeping the rollout horizon and the training length found a bug in our own headline - we had published 1 of 12, chosen by a metric that rises as detection falls. We corrected it upward.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2648" y="3950208"/>
            <a:ext cx="2148840" cy="822960"/>
          </a:xfrm>
          <a:prstGeom prst="roundRect">
            <a:avLst/>
          </a:prstGeom>
          <a:solidFill>
            <a:srgbClr val="2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Counterfactual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926080" y="3968496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4A7D"/>
                </a:solidFill>
                <a:latin typeface="Calibri"/>
              </a:rPr>
              <a:t>HOLDS, NARROWLY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926080" y="4242816"/>
            <a:ext cx="85953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41918"/>
                </a:solidFill>
                <a:latin typeface="Calibri"/>
              </a:rPr>
              <a:t>The world model learns that isolating reduces risk (94% of pairs); an action-aware LSTM does not (48%, chance). But always-isolate scores 100%, so this is evidence about the LSTM, not a ranking ability.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12648" y="4937760"/>
            <a:ext cx="2148840" cy="822960"/>
          </a:xfrm>
          <a:prstGeom prst="roundRect">
            <a:avLst/>
          </a:prstGeom>
          <a:solidFill>
            <a:srgbClr val="A3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Which interventions work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926080" y="495604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A3341F"/>
                </a:solidFill>
                <a:latin typeface="Calibri"/>
              </a:rPr>
              <a:t>REFUTED — after four attempts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926080" y="5230368"/>
            <a:ext cx="85953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41918"/>
                </a:solidFill>
                <a:latin typeface="Calibri"/>
              </a:rPr>
              <a:t>It predicts an average effect, not a per-host one. More data, FiLM conditioning and supervising the paired delta gave r = −0.105, −0.103, +0.037 against true containment probability. A leak-by-design oracle, trained on that target itself, still gave +0.011 — so the limit is structural, not sample size.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12648" y="601675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5D"/>
                </a:solidFill>
                <a:latin typeface="Calibri"/>
              </a:rPr>
              <a:t>One finding that applies to every team on this problem, not just us: on CTU-13 all four methods span 0.03 to 0.99 AUC across the thirteen captures. Cross-network transfer is close to a coin flip per capture.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70432"/>
            <a:ext cx="10972800" cy="548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indent="-3429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00" b="0">
                <a:solidFill>
                  <a:srgbClr val="141918"/>
                </a:solidFill>
                <a:latin typeface="Calibri"/>
              </a:rPr>
              <a:t>Beneficiaries  -  NTRO, NCIIPC and CERT-In empanelled SOCs defending Critical Information Infrastructure, where the decision is not “is this an alert” but “do we cut this host off now?”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/>
              <a:t>AlgoRhythms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12648" y="1792224"/>
            <a:ext cx="3566160" cy="1060704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612648" y="1847088"/>
            <a:ext cx="3566160" cy="1060704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2100" b="1">
                <a:solidFill>
                  <a:srgbClr val="2E4A7D"/>
                </a:solidFill>
                <a:latin typeface="Calibri"/>
              </a:rPr>
              <a:t>29.44 lakh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55605D"/>
                </a:solidFill>
                <a:latin typeface="Calibri"/>
              </a:rPr>
              <a:t>cyber incidents CERT-In handled in 2025</a:t>
            </a:r>
          </a:p>
          <a:p>
            <a:pPr algn="ctr"/>
            <a:r>
              <a:rPr sz="800" i="1">
                <a:solidFill>
                  <a:srgbClr val="B0BAB7"/>
                </a:solidFill>
                <a:latin typeface="Calibri"/>
              </a:rPr>
              <a:t>up 85% since 2023 - triage, not detection, is the bottleneck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361688" y="1792224"/>
            <a:ext cx="3566160" cy="1060704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361688" y="1847088"/>
            <a:ext cx="3566160" cy="1060704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2100" b="1">
                <a:solidFill>
                  <a:srgbClr val="2E4A7D"/>
                </a:solidFill>
                <a:latin typeface="Calibri"/>
              </a:rPr>
              <a:t>60-70%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55605D"/>
                </a:solidFill>
                <a:latin typeface="Calibri"/>
              </a:rPr>
              <a:t>of the data foundation shared with SIH26145</a:t>
            </a:r>
          </a:p>
          <a:p>
            <a:pPr algn="ctr"/>
            <a:r>
              <a:rPr sz="800" i="1">
                <a:solidFill>
                  <a:srgbClr val="B0BAB7"/>
                </a:solidFill>
                <a:latin typeface="Calibri"/>
              </a:rPr>
              <a:t>one engineering core answers two problem statements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8110727" y="1792224"/>
            <a:ext cx="3566160" cy="1060704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8110727" y="1847088"/>
            <a:ext cx="3566160" cy="1060704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ctr"/>
            <a:r>
              <a:rPr sz="2100" b="1">
                <a:solidFill>
                  <a:srgbClr val="2E4A7D"/>
                </a:solidFill>
                <a:latin typeface="Calibri"/>
              </a:rPr>
              <a:t>0</a:t>
            </a:r>
          </a:p>
          <a:p>
            <a:pPr algn="ctr">
              <a:spcBef>
                <a:spcPts val="100"/>
              </a:spcBef>
            </a:pPr>
            <a:r>
              <a:rPr sz="900">
                <a:solidFill>
                  <a:srgbClr val="55605D"/>
                </a:solidFill>
                <a:latin typeface="Calibri"/>
              </a:rPr>
              <a:t>network calls in the console</a:t>
            </a:r>
          </a:p>
          <a:p>
            <a:pPr algn="ctr"/>
            <a:r>
              <a:rPr sz="800" i="1">
                <a:solidFill>
                  <a:srgbClr val="B0BAB7"/>
                </a:solidFill>
                <a:latin typeface="Calibri"/>
              </a:rPr>
              <a:t>opens from a file, air-gapped, no CDN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12648" y="3072384"/>
            <a:ext cx="5349240" cy="1444752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141918"/>
                </a:solidFill>
                <a:latin typeface="Calibri"/>
              </a:rPr>
              <a:t/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13816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4A7D"/>
                </a:solidFill>
                <a:latin typeface="Calibri"/>
              </a:rPr>
              <a:t>Decision support, not one more alert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813816" y="3529584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918"/>
                </a:solidFill>
                <a:latin typeface="Calibri"/>
              </a:rPr>
              <a:t>Pick a host at its decision window and watch two futures separate - do nothing against isolate now - with the realised outcome of both branches underneath. A detection score cannot answer the question at all.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236208" y="3072384"/>
            <a:ext cx="5349240" cy="1444752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141918"/>
                </a:solidFill>
                <a:latin typeface="Calibri"/>
              </a:rPr>
              <a:t/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437376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4A7D"/>
                </a:solidFill>
                <a:latin typeface="Calibri"/>
              </a:rPr>
              <a:t>Speaks the SOC's existing language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437376" y="3529584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918"/>
                </a:solidFill>
                <a:latin typeface="Calibri"/>
              </a:rPr>
              <a:t>Rollout is scored against MITRE ATT&amp;CK tactic stages, so the output maps onto the kill-chain vocabulary CSE teams already use - no new taxonomy to learn.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12648" y="4645152"/>
            <a:ext cx="5349240" cy="1444752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141918"/>
                </a:solidFill>
                <a:latin typeface="Calibri"/>
              </a:rPr>
              <a:t/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13816" y="47731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4A7D"/>
                </a:solidFill>
                <a:latin typeface="Calibri"/>
              </a:rPr>
              <a:t>Attribution with a checkable axiom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13816" y="5102352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918"/>
                </a:solidFill>
                <a:latin typeface="Calibri"/>
              </a:rPr>
              <a:t>Not the SHAP or attention the PS names - neither exists in a message-passing encoder. Integrated gradients instead, carrying SHAP's additivity axiom, verified on every call including in the browser.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236208" y="4645152"/>
            <a:ext cx="5349240" cy="1444752"/>
          </a:xfrm>
          <a:prstGeom prst="round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141918"/>
                </a:solidFill>
                <a:latin typeface="Calibri"/>
              </a:rPr>
              <a:t/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437376" y="47731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4A7D"/>
                </a:solidFill>
                <a:latin typeface="Calibri"/>
              </a:rPr>
              <a:t>A benchmark the field does not have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437376" y="5102352"/>
            <a:ext cx="49377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41918"/>
                </a:solidFill>
                <a:latin typeface="Calibri"/>
              </a:rPr>
              <a:t>Lead-time-at-matched-false-alarm-rate, leave-one-scenario-out over 13 captures, contained attacks counted as negatives. It caught an error in our OWN published result - which is the strongest test an evaluation can pass.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170432"/>
            <a:ext cx="109728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indent="-3429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300" b="1">
                <a:solidFill>
                  <a:srgbClr val="2E4A7D"/>
                </a:solidFill>
                <a:latin typeface="Calibri"/>
              </a:rPr>
              <a:t>Problem statement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algn="l">
              <a:spcBef>
                <a:spcPts val="0"/>
              </a:spcBef>
              <a:spcAft>
                <a:spcPts val="350"/>
              </a:spcAft>
            </a:pPr>
            <a:r>
              <a:rPr sz="1100" b="0">
                <a:solidFill>
                  <a:srgbClr val="141918"/>
                </a:solidFill>
                <a:latin typeface="Calibri"/>
              </a:rPr>
              <a:t>SIH26153 (NTRO) asks for world-model systems that “learn state-transition dynamics”, “forecast future network states” and map behaviour to recognised attack stages. This deck answers that brief directly.</a:t>
            </a:r>
          </a:p>
          <a:p>
            <a:pPr algn="l">
              <a:spcBef>
                <a:spcPts val="800"/>
              </a:spcBef>
              <a:spcAft>
                <a:spcPts val="550"/>
              </a:spcAft>
            </a:pPr>
            <a:r>
              <a:rPr sz="1300" b="1">
                <a:solidFill>
                  <a:srgbClr val="2E4A7D"/>
                </a:solidFill>
                <a:latin typeface="Calibri"/>
              </a:rPr>
              <a:t>Prior art in attack forecasting</a:t>
            </a:r>
          </a:p>
          <a:p>
            <a:pPr algn="l">
              <a:spcBef>
                <a:spcPts val="0"/>
              </a:spcBef>
              <a:spcAft>
                <a:spcPts val="350"/>
              </a:spcAft>
            </a:pPr>
            <a:r>
              <a:rPr sz="1100" b="0">
                <a:solidFill>
                  <a:srgbClr val="141918"/>
                </a:solidFill>
                <a:latin typeface="Calibri"/>
              </a:rPr>
              <a:t>Husak et al. - Predictive methods in cyber defense: current experience and research challenges. Future Generation Computer Systems.</a:t>
            </a:r>
          </a:p>
          <a:p>
            <a:pPr algn="l">
              <a:spcBef>
                <a:spcPts val="0"/>
              </a:spcBef>
              <a:spcAft>
                <a:spcPts val="350"/>
              </a:spcAft>
            </a:pPr>
            <a:r>
              <a:rPr sz="1100" b="0">
                <a:solidFill>
                  <a:srgbClr val="141918"/>
                </a:solidFill>
                <a:latin typeface="Calibri"/>
              </a:rPr>
              <a:t>Abdlhamed et al. - Cyber-attack prediction based on network intrusion detection systems for alert correlation techniques: a survey. (PMC8879519)</a:t>
            </a:r>
          </a:p>
          <a:p>
            <a:pPr algn="l">
              <a:spcBef>
                <a:spcPts val="0"/>
              </a:spcBef>
              <a:spcAft>
                <a:spcPts val="350"/>
              </a:spcAft>
            </a:pPr>
            <a:r>
              <a:rPr sz="1100" b="0">
                <a:solidFill>
                  <a:srgbClr val="141918"/>
                </a:solidFill>
                <a:latin typeface="Calibri"/>
              </a:rPr>
              <a:t>Anticipated Network Surveillance: predicting cyber-attacks using ML and data analytics - arXiv:2312.17270.</a:t>
            </a:r>
          </a:p>
          <a:p>
            <a:pPr algn="l">
              <a:spcBef>
                <a:spcPts val="800"/>
              </a:spcBef>
              <a:spcAft>
                <a:spcPts val="550"/>
              </a:spcAft>
            </a:pPr>
            <a:r>
              <a:rPr sz="1300" b="1">
                <a:solidFill>
                  <a:srgbClr val="2E4A7D"/>
                </a:solidFill>
                <a:latin typeface="Calibri"/>
              </a:rPr>
              <a:t>Representation learning</a:t>
            </a:r>
          </a:p>
          <a:p>
            <a:pPr algn="l">
              <a:spcBef>
                <a:spcPts val="0"/>
              </a:spcBef>
              <a:spcAft>
                <a:spcPts val="350"/>
              </a:spcAft>
            </a:pPr>
            <a:r>
              <a:rPr sz="1100" b="0">
                <a:solidFill>
                  <a:srgbClr val="141918"/>
                </a:solidFill>
                <a:latin typeface="Calibri"/>
              </a:rPr>
              <a:t>Bardes, Ponce &amp; LeCun - VICReg: variance-invariance-covariance regularization, ICLR 2022. Used for the anti-collapse term. LeCun - A Path Towards Autonomous Machine Intelligence, 2022, for the latent-predictive (JEPA) objective.</a:t>
            </a:r>
          </a:p>
          <a:p>
            <a:pPr algn="l">
              <a:spcBef>
                <a:spcPts val="0"/>
              </a:spcBef>
              <a:spcAft>
                <a:spcPts val="350"/>
              </a:spcAft>
            </a:pPr>
            <a:r>
              <a:rPr sz="1100" b="0">
                <a:solidFill>
                  <a:srgbClr val="141918"/>
                </a:solidFill>
                <a:latin typeface="Calibri"/>
              </a:rPr>
              <a:t>MITRE ATT&amp;CK for tactic-stage labelling. Sundararajan, Taly &amp; Yan - Axiomatic Attribution for Deep Networks, ICML 2017 (integrated gradients).</a:t>
            </a:r>
          </a:p>
          <a:p>
            <a:pPr algn="l">
              <a:spcBef>
                <a:spcPts val="800"/>
              </a:spcBef>
              <a:spcAft>
                <a:spcPts val="550"/>
              </a:spcAft>
            </a:pPr>
            <a:r>
              <a:rPr sz="1300" b="1">
                <a:solidFill>
                  <a:srgbClr val="2E4A7D"/>
                </a:solidFill>
                <a:latin typeface="Calibri"/>
              </a:rPr>
              <a:t>Data and scale</a:t>
            </a:r>
          </a:p>
          <a:p>
            <a:pPr algn="l">
              <a:spcBef>
                <a:spcPts val="0"/>
              </a:spcBef>
              <a:spcAft>
                <a:spcPts val="350"/>
              </a:spcAft>
            </a:pPr>
            <a:r>
              <a:rPr sz="1100" b="0">
                <a:solidFill>
                  <a:srgbClr val="141918"/>
                </a:solidFill>
                <a:latin typeface="Calibri"/>
              </a:rPr>
              <a:t>CTU-13 botnet captures, Stratosphere Lab, CTU Prague (Garcia et al., 2014). CERT-In / PIB: 29.44 lakh incidents handled in 2025, up 85% on 2023.</a:t>
            </a:r>
          </a:p>
          <a:p>
            <a:pPr algn="l">
              <a:spcBef>
                <a:spcPts val="800"/>
              </a:spcBef>
              <a:spcAft>
                <a:spcPts val="550"/>
              </a:spcAft>
            </a:pPr>
            <a:r>
              <a:rPr sz="1300" b="1">
                <a:solidFill>
                  <a:srgbClr val="2E4A7D"/>
                </a:solidFill>
                <a:latin typeface="Calibri"/>
              </a:rPr>
              <a:t>Our work</a:t>
            </a:r>
          </a:p>
          <a:p>
            <a:pPr algn="l">
              <a:spcBef>
                <a:spcPts val="0"/>
              </a:spcBef>
              <a:spcAft>
                <a:spcPts val="350"/>
              </a:spcAft>
            </a:pPr>
            <a:r>
              <a:rPr sz="1100" b="0">
                <a:solidFill>
                  <a:srgbClr val="141918"/>
                </a:solidFill>
                <a:latin typeface="Calibri"/>
              </a:rPr>
              <a:t>Repository with all experiments, pre-registered predictions and printed verdicts, and one-command reproduction:</a:t>
            </a:r>
            <a:r>
              <a:rPr sz="1000" b="0" u="sng">
                <a:solidFill>
                  <a:srgbClr val="2E4A7D"/>
                </a:solidFill>
                <a:latin typeface="Calibri"/>
                <a:hlinkClick r:id="rId4"/>
              </a:rPr>
              <a:t>  github.com/AKRai-2005/kalachakra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000"/>
              <a:t>AlgoRhythms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